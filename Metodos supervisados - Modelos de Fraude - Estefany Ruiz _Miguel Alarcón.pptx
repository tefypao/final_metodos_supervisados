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48175-F2EC-4DCA-BC87-CEAAF83C2056}" v="2" dt="2026-05-23T15:12:1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Angel Alarcón Ojeda" userId="7296c6f6-6ed7-4e93-a4b4-c08157c485b2" providerId="ADAL" clId="{C4329B25-6322-4A8A-8A23-4174BB215986}"/>
    <pc:docChg chg="modSld">
      <pc:chgData name="Miguel Angel Alarcón Ojeda" userId="7296c6f6-6ed7-4e93-a4b4-c08157c485b2" providerId="ADAL" clId="{C4329B25-6322-4A8A-8A23-4174BB215986}" dt="2026-05-23T15:14:47.024" v="72" actId="1076"/>
      <pc:docMkLst>
        <pc:docMk/>
      </pc:docMkLst>
      <pc:sldChg chg="modSp mod">
        <pc:chgData name="Miguel Angel Alarcón Ojeda" userId="7296c6f6-6ed7-4e93-a4b4-c08157c485b2" providerId="ADAL" clId="{C4329B25-6322-4A8A-8A23-4174BB215986}" dt="2026-05-23T15:13:07.559" v="61" actId="12"/>
        <pc:sldMkLst>
          <pc:docMk/>
          <pc:sldMk cId="0" sldId="258"/>
        </pc:sldMkLst>
        <pc:spChg chg="mod">
          <ac:chgData name="Miguel Angel Alarcón Ojeda" userId="7296c6f6-6ed7-4e93-a4b4-c08157c485b2" providerId="ADAL" clId="{C4329B25-6322-4A8A-8A23-4174BB215986}" dt="2026-05-23T15:12:55.270" v="50" actId="103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iguel Angel Alarcón Ojeda" userId="7296c6f6-6ed7-4e93-a4b4-c08157c485b2" providerId="ADAL" clId="{C4329B25-6322-4A8A-8A23-4174BB215986}" dt="2026-05-23T15:13:07.559" v="61" actId="12"/>
          <ac:spMkLst>
            <pc:docMk/>
            <pc:sldMk cId="0" sldId="258"/>
            <ac:spMk id="32" creationId="{00000000-0000-0000-0000-000000000000}"/>
          </ac:spMkLst>
        </pc:spChg>
      </pc:sldChg>
      <pc:sldChg chg="modSp mod">
        <pc:chgData name="Miguel Angel Alarcón Ojeda" userId="7296c6f6-6ed7-4e93-a4b4-c08157c485b2" providerId="ADAL" clId="{C4329B25-6322-4A8A-8A23-4174BB215986}" dt="2026-05-23T15:14:16.922" v="68" actId="14100"/>
        <pc:sldMkLst>
          <pc:docMk/>
          <pc:sldMk cId="0" sldId="261"/>
        </pc:sldMkLst>
        <pc:spChg chg="mod">
          <ac:chgData name="Miguel Angel Alarcón Ojeda" userId="7296c6f6-6ed7-4e93-a4b4-c08157c485b2" providerId="ADAL" clId="{C4329B25-6322-4A8A-8A23-4174BB215986}" dt="2026-05-23T15:14:07.665" v="65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iguel Angel Alarcón Ojeda" userId="7296c6f6-6ed7-4e93-a4b4-c08157c485b2" providerId="ADAL" clId="{C4329B25-6322-4A8A-8A23-4174BB215986}" dt="2026-05-23T15:14:16.922" v="68" actId="14100"/>
          <ac:spMkLst>
            <pc:docMk/>
            <pc:sldMk cId="0" sldId="261"/>
            <ac:spMk id="22" creationId="{00000000-0000-0000-0000-000000000000}"/>
          </ac:spMkLst>
        </pc:spChg>
        <pc:graphicFrameChg chg="modGraphic">
          <ac:chgData name="Miguel Angel Alarcón Ojeda" userId="7296c6f6-6ed7-4e93-a4b4-c08157c485b2" providerId="ADAL" clId="{C4329B25-6322-4A8A-8A23-4174BB215986}" dt="2026-05-23T15:14:05.113" v="63" actId="20577"/>
          <ac:graphicFrameMkLst>
            <pc:docMk/>
            <pc:sldMk cId="0" sldId="261"/>
            <ac:graphicFrameMk id="12" creationId="{00000000-0000-0000-0000-000000000000}"/>
          </ac:graphicFrameMkLst>
        </pc:graphicFrameChg>
      </pc:sldChg>
      <pc:sldChg chg="modSp mod">
        <pc:chgData name="Miguel Angel Alarcón Ojeda" userId="7296c6f6-6ed7-4e93-a4b4-c08157c485b2" providerId="ADAL" clId="{C4329B25-6322-4A8A-8A23-4174BB215986}" dt="2026-05-23T15:14:47.024" v="72" actId="1076"/>
        <pc:sldMkLst>
          <pc:docMk/>
          <pc:sldMk cId="450537802" sldId="264"/>
        </pc:sldMkLst>
        <pc:spChg chg="mod">
          <ac:chgData name="Miguel Angel Alarcón Ojeda" userId="7296c6f6-6ed7-4e93-a4b4-c08157c485b2" providerId="ADAL" clId="{C4329B25-6322-4A8A-8A23-4174BB215986}" dt="2026-05-23T15:14:47.024" v="72" actId="1076"/>
          <ac:spMkLst>
            <pc:docMk/>
            <pc:sldMk cId="450537802" sldId="264"/>
            <ac:spMk id="6" creationId="{B799EACB-607F-C6DA-607E-F2D19CB982C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</c:v>
                </c:pt>
              </c:strCache>
            </c:strRef>
          </c:tx>
          <c:dLbls>
            <c:dLbl>
              <c:idx val="0"/>
              <c:layout>
                <c:manualLayout>
                  <c:x val="0.22553412789903146"/>
                  <c:y val="1.7708209069684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80796304707344"/>
                      <c:h val="0.1188013676876813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BE6-497D-9CFE-F0472E76B67F}"/>
                </c:ext>
              </c:extLst>
            </c:dLbl>
            <c:dLbl>
              <c:idx val="1"/>
              <c:layout>
                <c:manualLayout>
                  <c:x val="-0.13442431464180682"/>
                  <c:y val="-0.125923940576542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BE6-497D-9CFE-F0472E76B67F}"/>
                </c:ext>
              </c:extLst>
            </c:dLbl>
            <c:numFmt formatCode="0.00%" sourceLinked="0"/>
            <c:spPr>
              <a:solidFill>
                <a:schemeClr val="lt1"/>
              </a:solidFill>
              <a:ln w="25400" cap="flat" cmpd="sng" algn="ctr">
                <a:solidFill>
                  <a:schemeClr val="dk1"/>
                </a:solidFill>
                <a:prstDash val="solid"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fraude</c:v>
                </c:pt>
                <c:pt idx="1">
                  <c:v>Fraude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0.94010000000000005</c:v>
                </c:pt>
                <c:pt idx="1">
                  <c:v>5.9900000000000002E-2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E6-497D-9CFE-F0472E76B6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1"/>
    <c:dispBlanksAs val="gap"/>
    <c:showDLblsOverMax val="1"/>
  </c:chart>
  <c:txPr>
    <a:bodyPr/>
    <a:lstStyle/>
    <a:p>
      <a:pPr>
        <a:defRPr sz="2000">
          <a:latin typeface="ADLaM Display" panose="02010000000000000000" pitchFamily="2" charset="0"/>
          <a:ea typeface="ADLaM Display" panose="02010000000000000000" pitchFamily="2" charset="0"/>
          <a:cs typeface="ADLaM Display" panose="02010000000000000000" pitchFamily="2" charset="0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effectLst/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>
        <c:manualLayout>
          <c:layoutTarget val="inner"/>
          <c:xMode val="edge"/>
          <c:yMode val="edge"/>
          <c:x val="2.7040314650934118E-2"/>
          <c:y val="4.6901877649909149E-2"/>
          <c:w val="0.94591937069813181"/>
          <c:h val="0.8304196110101620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5A0-4FB9-BAE3-8B18A1B8BBEF}"/>
              </c:ext>
            </c:extLst>
          </c:dPt>
          <c:dPt>
            <c:idx val="1"/>
            <c:invertIfNegative val="1"/>
            <c:bubble3D val="0"/>
            <c:spPr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5A0-4FB9-BAE3-8B18A1B8BBEF}"/>
              </c:ext>
            </c:extLst>
          </c:dPt>
          <c:dPt>
            <c:idx val="2"/>
            <c:invertIfNegative val="1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5A0-4FB9-BAE3-8B18A1B8BBE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Reg. Logística</c:v>
                </c:pt>
                <c:pt idx="1">
                  <c:v>Gradient Boosting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0.93700000000000006</c:v>
                </c:pt>
                <c:pt idx="1">
                  <c:v>0.93200000000000005</c:v>
                </c:pt>
                <c:pt idx="2">
                  <c:v>0.92900000000000005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11-4703-91DA-071CDD6DCCE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s-CO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5"/>
          <c:min val="0.9"/>
        </c:scaling>
        <c:delete val="1"/>
        <c:axPos val="l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165D2128-07D9-621D-D8F8-37CA83AD51E8}"/>
              </a:ext>
            </a:extLst>
          </p:cNvPr>
          <p:cNvSpPr/>
          <p:nvPr/>
        </p:nvSpPr>
        <p:spPr>
          <a:xfrm>
            <a:off x="8507392" y="-21790"/>
            <a:ext cx="3684608" cy="3761686"/>
          </a:xfrm>
          <a:custGeom>
            <a:avLst/>
            <a:gdLst>
              <a:gd name="csX0" fmla="*/ 714069 w 3596640"/>
              <a:gd name="csY0" fmla="*/ 0 h 3679391"/>
              <a:gd name="csX1" fmla="*/ 3492171 w 3596640"/>
              <a:gd name="csY1" fmla="*/ 0 h 3679391"/>
              <a:gd name="csX2" fmla="*/ 3590250 w 3596640"/>
              <a:gd name="csY2" fmla="*/ 89141 h 3679391"/>
              <a:gd name="csX3" fmla="*/ 3596640 w 3596640"/>
              <a:gd name="csY3" fmla="*/ 96171 h 3679391"/>
              <a:gd name="csX4" fmla="*/ 3596640 w 3596640"/>
              <a:gd name="csY4" fmla="*/ 3056371 h 3679391"/>
              <a:gd name="csX5" fmla="*/ 3590250 w 3596640"/>
              <a:gd name="csY5" fmla="*/ 3063402 h 3679391"/>
              <a:gd name="csX6" fmla="*/ 2103120 w 3596640"/>
              <a:gd name="csY6" fmla="*/ 3679391 h 3679391"/>
              <a:gd name="csX7" fmla="*/ 0 w 3596640"/>
              <a:gd name="csY7" fmla="*/ 1576271 h 3679391"/>
              <a:gd name="csX8" fmla="*/ 615990 w 3596640"/>
              <a:gd name="csY8" fmla="*/ 89141 h 3679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96640" h="3679391">
                <a:moveTo>
                  <a:pt x="714069" y="0"/>
                </a:moveTo>
                <a:lnTo>
                  <a:pt x="3492171" y="0"/>
                </a:lnTo>
                <a:lnTo>
                  <a:pt x="3590250" y="89141"/>
                </a:lnTo>
                <a:lnTo>
                  <a:pt x="3596640" y="96171"/>
                </a:lnTo>
                <a:lnTo>
                  <a:pt x="3596640" y="3056371"/>
                </a:lnTo>
                <a:lnTo>
                  <a:pt x="3590250" y="3063402"/>
                </a:lnTo>
                <a:cubicBezTo>
                  <a:pt x="3209661" y="3443991"/>
                  <a:pt x="2683881" y="3679391"/>
                  <a:pt x="2103120" y="3679391"/>
                </a:cubicBezTo>
                <a:cubicBezTo>
                  <a:pt x="941599" y="3679391"/>
                  <a:pt x="0" y="2737792"/>
                  <a:pt x="0" y="1576271"/>
                </a:cubicBezTo>
                <a:cubicBezTo>
                  <a:pt x="0" y="995511"/>
                  <a:pt x="235400" y="469731"/>
                  <a:pt x="615990" y="89141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3A93E188-47D9-FD19-AB7C-343157CDFFB4}"/>
              </a:ext>
            </a:extLst>
          </p:cNvPr>
          <p:cNvSpPr/>
          <p:nvPr/>
        </p:nvSpPr>
        <p:spPr>
          <a:xfrm>
            <a:off x="10162572" y="5084064"/>
            <a:ext cx="2029428" cy="1756140"/>
          </a:xfrm>
          <a:custGeom>
            <a:avLst/>
            <a:gdLst>
              <a:gd name="csX0" fmla="*/ 1463040 w 2499360"/>
              <a:gd name="csY0" fmla="*/ 0 h 2451084"/>
              <a:gd name="csX1" fmla="*/ 2497566 w 2499360"/>
              <a:gd name="csY1" fmla="*/ 428515 h 2451084"/>
              <a:gd name="csX2" fmla="*/ 2499360 w 2499360"/>
              <a:gd name="csY2" fmla="*/ 430489 h 2451084"/>
              <a:gd name="csX3" fmla="*/ 2499360 w 2499360"/>
              <a:gd name="csY3" fmla="*/ 2451084 h 2451084"/>
              <a:gd name="csX4" fmla="*/ 386269 w 2499360"/>
              <a:gd name="csY4" fmla="*/ 2451084 h 2451084"/>
              <a:gd name="csX5" fmla="*/ 334087 w 2499360"/>
              <a:gd name="csY5" fmla="*/ 2393670 h 2451084"/>
              <a:gd name="csX6" fmla="*/ 0 w 2499360"/>
              <a:gd name="csY6" fmla="*/ 1463040 h 2451084"/>
              <a:gd name="csX7" fmla="*/ 1463040 w 2499360"/>
              <a:gd name="csY7" fmla="*/ 0 h 2451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99360" h="2451084">
                <a:moveTo>
                  <a:pt x="1463040" y="0"/>
                </a:moveTo>
                <a:cubicBezTo>
                  <a:pt x="1867048" y="0"/>
                  <a:pt x="2232808" y="163757"/>
                  <a:pt x="2497566" y="428515"/>
                </a:cubicBezTo>
                <a:lnTo>
                  <a:pt x="2499360" y="430489"/>
                </a:lnTo>
                <a:lnTo>
                  <a:pt x="2499360" y="2451084"/>
                </a:lnTo>
                <a:lnTo>
                  <a:pt x="386269" y="2451084"/>
                </a:lnTo>
                <a:lnTo>
                  <a:pt x="334087" y="2393670"/>
                </a:lnTo>
                <a:cubicBezTo>
                  <a:pt x="125376" y="2140770"/>
                  <a:pt x="0" y="1816547"/>
                  <a:pt x="0" y="1463040"/>
                </a:cubicBezTo>
                <a:cubicBezTo>
                  <a:pt x="0" y="655025"/>
                  <a:pt x="655025" y="0"/>
                  <a:pt x="146304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8196CAC6-69B4-B247-1D34-38804E4272B5}"/>
              </a:ext>
            </a:extLst>
          </p:cNvPr>
          <p:cNvSpPr/>
          <p:nvPr/>
        </p:nvSpPr>
        <p:spPr>
          <a:xfrm>
            <a:off x="91440" y="5497975"/>
            <a:ext cx="1629484" cy="1350200"/>
          </a:xfrm>
          <a:custGeom>
            <a:avLst/>
            <a:gdLst>
              <a:gd name="csX0" fmla="*/ 960120 w 1920240"/>
              <a:gd name="csY0" fmla="*/ 0 h 1554480"/>
              <a:gd name="csX1" fmla="*/ 1920240 w 1920240"/>
              <a:gd name="csY1" fmla="*/ 960120 h 1554480"/>
              <a:gd name="csX2" fmla="*/ 1756267 w 1920240"/>
              <a:gd name="csY2" fmla="*/ 1496933 h 1554480"/>
              <a:gd name="csX3" fmla="*/ 1708786 w 1920240"/>
              <a:gd name="csY3" fmla="*/ 1554480 h 1554480"/>
              <a:gd name="csX4" fmla="*/ 211454 w 1920240"/>
              <a:gd name="csY4" fmla="*/ 1554480 h 1554480"/>
              <a:gd name="csX5" fmla="*/ 163973 w 1920240"/>
              <a:gd name="csY5" fmla="*/ 1496933 h 1554480"/>
              <a:gd name="csX6" fmla="*/ 0 w 1920240"/>
              <a:gd name="csY6" fmla="*/ 960120 h 1554480"/>
              <a:gd name="csX7" fmla="*/ 960120 w 1920240"/>
              <a:gd name="csY7" fmla="*/ 0 h 1554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20240" h="1554480">
                <a:moveTo>
                  <a:pt x="960120" y="0"/>
                </a:moveTo>
                <a:cubicBezTo>
                  <a:pt x="1490380" y="0"/>
                  <a:pt x="1920240" y="429860"/>
                  <a:pt x="1920240" y="960120"/>
                </a:cubicBezTo>
                <a:cubicBezTo>
                  <a:pt x="1920240" y="1158968"/>
                  <a:pt x="1859791" y="1343697"/>
                  <a:pt x="1756267" y="1496933"/>
                </a:cubicBezTo>
                <a:lnTo>
                  <a:pt x="1708786" y="1554480"/>
                </a:lnTo>
                <a:lnTo>
                  <a:pt x="211454" y="1554480"/>
                </a:lnTo>
                <a:lnTo>
                  <a:pt x="163973" y="1496933"/>
                </a:lnTo>
                <a:cubicBezTo>
                  <a:pt x="60449" y="1343697"/>
                  <a:pt x="0" y="1158968"/>
                  <a:pt x="0" y="960120"/>
                </a:cubicBezTo>
                <a:cubicBezTo>
                  <a:pt x="0" y="429860"/>
                  <a:pt x="429860" y="0"/>
                  <a:pt x="96012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412480" cy="1138773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s-CO" noProof="0" dirty="0">
                <a:solidFill>
                  <a:srgbClr val="FFC000"/>
                </a:solidFill>
              </a:rPr>
              <a:t>Modelos de clasificación</a:t>
            </a:r>
            <a:br>
              <a:rPr lang="es-CO" noProof="0" dirty="0">
                <a:solidFill>
                  <a:srgbClr val="FFC000"/>
                </a:solidFill>
              </a:rPr>
            </a:br>
            <a:r>
              <a:rPr lang="es-CO" noProof="0" dirty="0">
                <a:solidFill>
                  <a:srgbClr val="FFC000"/>
                </a:solidFill>
              </a:rPr>
              <a:t>para detección temprana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7955279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500" b="0">
                <a:solidFill>
                  <a:srgbClr val="E1E1EB"/>
                </a:solidFill>
                <a:latin typeface="Aptos"/>
              </a:defRPr>
            </a:pPr>
            <a:r>
              <a:t>Entidades bancarias | Reto analítico de clasificación supervisada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86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59" y="3886200"/>
            <a:ext cx="200863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4032504"/>
            <a:ext cx="1128835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rPr dirty="0"/>
              <a:t>Equipo</a:t>
            </a:r>
            <a:r>
              <a:rPr lang="es-CO" dirty="0"/>
              <a:t> en Kaggle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227328" y="4307840"/>
            <a:ext cx="182376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C8C8"/>
                </a:solidFill>
                <a:latin typeface="Aptos"/>
              </a:defRPr>
            </a:pPr>
            <a:r>
              <a:rPr lang="es-CO" sz="1600" noProof="0" dirty="0">
                <a:solidFill>
                  <a:srgbClr val="002060"/>
                </a:solidFill>
              </a:rPr>
              <a:t>Miguel_Estefanny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886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19" y="3886200"/>
            <a:ext cx="200863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403250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Integrantes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3288" y="4216400"/>
            <a:ext cx="272702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3AED"/>
                </a:solidFill>
                <a:latin typeface="Aptos"/>
              </a:defRPr>
            </a:pPr>
            <a:r>
              <a:rPr lang="es-CO" sz="1600" dirty="0">
                <a:solidFill>
                  <a:srgbClr val="002060"/>
                </a:solidFill>
              </a:rPr>
              <a:t>Estefanny Ruíz González </a:t>
            </a:r>
          </a:p>
          <a:p>
            <a:pPr>
              <a:defRPr sz="2000" b="1">
                <a:solidFill>
                  <a:srgbClr val="7C3AED"/>
                </a:solidFill>
                <a:latin typeface="Aptos"/>
              </a:defRPr>
            </a:pPr>
            <a:r>
              <a:rPr lang="es-CO" sz="1600" dirty="0">
                <a:solidFill>
                  <a:srgbClr val="002060"/>
                </a:solidFill>
              </a:rPr>
              <a:t>Miguel Angel Alarcón Ojeda</a:t>
            </a:r>
            <a:endParaRPr sz="1600" dirty="0">
              <a:solidFill>
                <a:srgbClr val="002060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79" y="388620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8" y="3886200"/>
            <a:ext cx="200863" cy="10515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4032504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Métrica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2608" y="4297680"/>
            <a:ext cx="10892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ptos"/>
              </a:defRPr>
            </a:pPr>
            <a:r>
              <a:rPr sz="1600" dirty="0">
                <a:solidFill>
                  <a:srgbClr val="002060"/>
                </a:solidFill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669573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/>
              <a:t>Evaluación del modelo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EA6102A-C893-4EF6-9053-0B9E1836E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4" r="1"/>
          <a:stretch>
            <a:fillRect/>
          </a:stretch>
        </p:blipFill>
        <p:spPr bwMode="auto">
          <a:xfrm>
            <a:off x="9005104" y="1696382"/>
            <a:ext cx="3009803" cy="129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810C5186-5D93-46D4-EA67-D7039D5DF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94"/>
          <a:stretch>
            <a:fillRect/>
          </a:stretch>
        </p:blipFill>
        <p:spPr bwMode="auto">
          <a:xfrm>
            <a:off x="9770671" y="135630"/>
            <a:ext cx="1672736" cy="163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95549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rPr lang="es-CO" noProof="0" dirty="0"/>
              <a:t>Contexto y objetivo del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87807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Planteamiento del reto analítico y variable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52772"/>
            <a:ext cx="128016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s-CO" noProof="0" dirty="0"/>
              <a:t>Contexto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4252"/>
            <a:ext cx="5212080" cy="124649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50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El fraude financiero representa un riesgo económico, operativo y reputacional para las entidades bancarias. Por ello, resulta necesario contar con herramientas analíticas que permitan identificar señales tempranas de comportamiento fraudulento.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73012"/>
            <a:ext cx="123444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s-CO" noProof="0" dirty="0"/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84492"/>
            <a:ext cx="5212080" cy="1015663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50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Construir un modelo de clasificación supervisada que estime la probabilidad de fraude de cada cliente, utilizando variables transaccionales, financieras y categóricas. La evaluación se realizó con AUC-ROC, métrica definida para la competencia.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173092"/>
            <a:ext cx="4892040" cy="4389120"/>
          </a:xfrm>
          <a:prstGeom prst="roundRect">
            <a:avLst>
              <a:gd name="adj" fmla="val 7986"/>
            </a:avLst>
          </a:prstGeom>
          <a:solidFill>
            <a:srgbClr val="F5F7FA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1515701"/>
            <a:ext cx="4206240" cy="5232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2000" b="1">
                <a:solidFill>
                  <a:srgbClr val="14122B"/>
                </a:solidFill>
                <a:latin typeface="Aptos"/>
              </a:defRPr>
            </a:pPr>
            <a:r>
              <a:rPr lang="es-CO" sz="2800" noProof="0" dirty="0">
                <a:solidFill>
                  <a:srgbClr val="002060"/>
                </a:solidFill>
              </a:rPr>
              <a:t>Variable objetivo: Fraude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949172"/>
            <a:ext cx="4160520" cy="83099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212529"/>
                </a:solidFill>
                <a:latin typeface="Aptos"/>
              </a:defRPr>
            </a:pPr>
            <a:r>
              <a:rPr lang="es-CO" sz="1600" noProof="0" dirty="0">
                <a:solidFill>
                  <a:srgbClr val="002060"/>
                </a:solidFill>
              </a:rPr>
              <a:t>La variable objetivo permite clasificar el comportamiento observado del cliente en dos posibles clases: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552318"/>
              </p:ext>
            </p:extLst>
          </p:nvPr>
        </p:nvGraphicFramePr>
        <p:xfrm>
          <a:off x="6812280" y="2945756"/>
          <a:ext cx="393191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800" noProof="0" dirty="0">
                          <a:solidFill>
                            <a:srgbClr val="002060"/>
                          </a:solidFill>
                        </a:rPr>
                        <a:t>Valor</a:t>
                      </a:r>
                    </a:p>
                  </a:txBody>
                  <a:tcPr marL="45720" marR="45720" marT="27432" marB="2743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800" noProof="0" dirty="0">
                          <a:solidFill>
                            <a:srgbClr val="002060"/>
                          </a:solidFill>
                        </a:rPr>
                        <a:t>Interpretación</a:t>
                      </a:r>
                    </a:p>
                  </a:txBody>
                  <a:tcPr marL="45720" marR="45720" marT="27432" marB="2743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Cliente sin fraude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Cliente con fraude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812280" y="4463772"/>
            <a:ext cx="4069080" cy="83099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50" b="0">
                <a:solidFill>
                  <a:srgbClr val="69707D"/>
                </a:solidFill>
                <a:latin typeface="Aptos"/>
              </a:defRPr>
            </a:pPr>
            <a:r>
              <a:rPr lang="es-CO" sz="1600" noProof="0" dirty="0">
                <a:solidFill>
                  <a:srgbClr val="002060"/>
                </a:solidFill>
              </a:rPr>
              <a:t>El interés principal no fue predecir únicamente una clase, sino ordenar a los clientes según su probabilidad de fraude.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A4E6BA9-2921-E34F-23BF-5EECD1DBE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rPr lang="es-CO" noProof="0" dirty="0"/>
              <a:t>Descripción de los datos y distribución de fraude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55369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Estructura de las bases utilizadas y comportamiento de la variable objetivo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087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508760"/>
            <a:ext cx="265176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8462" y="1655063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Base de entrenamiento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462" y="1828800"/>
            <a:ext cx="21488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B21B6"/>
                </a:solidFill>
                <a:latin typeface="Aptos"/>
              </a:defRPr>
            </a:pPr>
            <a:r>
              <a:t>848.548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462" y="21366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/>
              <a:t>Registros | 9 columnas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5087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1508760"/>
            <a:ext cx="265176" cy="10515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61662" y="1655063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Base de prueba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1662" y="1828800"/>
            <a:ext cx="21488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A0"/>
                </a:solidFill>
                <a:latin typeface="Aptos"/>
              </a:defRPr>
            </a:pPr>
            <a:r>
              <a:t>200.027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1662" y="21366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t>Registros | 8 columnas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5087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508760"/>
            <a:ext cx="265176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4863" y="1655063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Variable objetivo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863" y="1828800"/>
            <a:ext cx="21488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ptos"/>
              </a:defRPr>
            </a:pPr>
            <a:r>
              <a:t>Fraude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863" y="21366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t>Clase 0 / Clase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1508760"/>
            <a:ext cx="24688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15400" y="1508760"/>
            <a:ext cx="265176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59639" y="1655063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IDs duplicados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9639" y="1828800"/>
            <a:ext cx="21488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9639" y="213664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t>Train y 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110362"/>
            <a:ext cx="182880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Variables utilizadas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67562"/>
            <a:ext cx="5029200" cy="1962076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 ID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 err="1"/>
              <a:t>Num_Tarjetas</a:t>
            </a:r>
            <a:endParaRPr lang="es-CO" noProof="0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 err="1"/>
              <a:t>Balance_Tj</a:t>
            </a:r>
            <a:endParaRPr lang="es-CO" noProof="0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 err="1"/>
              <a:t>Total_Transac</a:t>
            </a:r>
            <a:endParaRPr lang="es-CO" noProof="0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 err="1"/>
              <a:t>Trans_Int</a:t>
            </a:r>
            <a:endParaRPr lang="es-CO" noProof="0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Estado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Genero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 err="1"/>
              <a:t>Tipo_Tarjeta</a:t>
            </a:r>
            <a:endParaRPr lang="es-CO" noProof="0" dirty="0"/>
          </a:p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Fraude 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104388"/>
            <a:ext cx="192024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Distribución objetivo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136329"/>
              </p:ext>
            </p:extLst>
          </p:nvPr>
        </p:nvGraphicFramePr>
        <p:xfrm>
          <a:off x="6817362" y="2852811"/>
          <a:ext cx="5281685" cy="3787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095847" y="3506076"/>
            <a:ext cx="2148840" cy="477054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250" b="1">
                <a:solidFill>
                  <a:srgbClr val="14122B"/>
                </a:solidFill>
                <a:latin typeface="Aptos"/>
              </a:defRPr>
            </a:pPr>
            <a:r>
              <a:rPr lang="es-CO" noProof="0" dirty="0"/>
              <a:t>No fraude: 94,01%</a:t>
            </a:r>
            <a:br>
              <a:rPr lang="es-CO" noProof="0" dirty="0"/>
            </a:br>
            <a:r>
              <a:rPr lang="es-CO" noProof="0" dirty="0"/>
              <a:t>Fraude: 5,99%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59772"/>
            <a:ext cx="6942495" cy="58477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400" b="0">
                <a:solidFill>
                  <a:srgbClr val="212529"/>
                </a:solidFill>
                <a:latin typeface="Aptos"/>
              </a:defRPr>
            </a:pPr>
            <a:r>
              <a:rPr lang="es-CO" sz="1600" b="1" noProof="0" dirty="0"/>
              <a:t>La base está desbalanceada; por esto no se usó exactitud como métrica central, sino AUC-ROC y modelos con tratamiento del desbalance.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679189FB-078A-9F2E-EE9C-ED7D9CEBC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2">
            <a:extLst>
              <a:ext uri="{FF2B5EF4-FFF2-40B4-BE49-F238E27FC236}">
                <a16:creationId xmlns:a16="http://schemas.microsoft.com/office/drawing/2014/main" id="{E4EC9E29-7577-EDA2-1734-498792CC873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24833C32-E1CE-EAFD-C5F9-81924183AAF4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A6769814-25F5-EFC7-302A-15204A492DF8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rPr lang="es-CO" noProof="0"/>
              <a:t>Ingeniería de variables y modelos evaluados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679" y="85627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Construcción de señales predictivas y comparación de algoritmos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37239"/>
            <a:ext cx="182880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 lang="es-CO" noProof="0"/>
              <a:t>Variables creadas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757445"/>
              </p:ext>
            </p:extLst>
          </p:nvPr>
        </p:nvGraphicFramePr>
        <p:xfrm>
          <a:off x="685800" y="2244908"/>
          <a:ext cx="5257799" cy="3253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613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>
                          <a:solidFill>
                            <a:schemeClr val="tx1"/>
                          </a:solidFill>
                        </a:rPr>
                        <a:t>Variable creada</a:t>
                      </a:r>
                    </a:p>
                  </a:txBody>
                  <a:tcPr marL="45720" marR="45720" marT="27432" marB="27432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>
                          <a:solidFill>
                            <a:schemeClr val="tx1"/>
                          </a:solidFill>
                        </a:rPr>
                        <a:t>Descripción</a:t>
                      </a:r>
                    </a:p>
                  </a:txBody>
                  <a:tcPr marL="45720" marR="45720" marT="27432" marB="27432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613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 err="1"/>
                        <a:t>Pct_Trans_Int</a:t>
                      </a:r>
                      <a:endParaRPr lang="es-CO" sz="1400" noProof="0"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Proporción de transacciones internacionales frente al total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613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 err="1"/>
                        <a:t>Balance_Por_Tarjeta</a:t>
                      </a:r>
                      <a:endParaRPr lang="es-CO" sz="1400" noProof="0" dirty="0"/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Balance promedio por número de tarjetas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613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 err="1"/>
                        <a:t>Balance_Por_Transac</a:t>
                      </a:r>
                      <a:endParaRPr lang="es-CO" sz="1400" noProof="0"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Relación entre balance y número de transacciones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613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 err="1"/>
                        <a:t>Tiene_Trans_Int</a:t>
                      </a:r>
                      <a:endParaRPr lang="es-CO" sz="1400" noProof="0" dirty="0"/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Indicador de si el cliente realizó transacciones internacionales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46520" y="1637239"/>
            <a:ext cx="1874519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Modelos evaluados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82252"/>
              </p:ext>
            </p:extLst>
          </p:nvPr>
        </p:nvGraphicFramePr>
        <p:xfrm>
          <a:off x="6446520" y="2244907"/>
          <a:ext cx="4892039" cy="3253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266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Modelo</a:t>
                      </a:r>
                    </a:p>
                  </a:txBody>
                  <a:tcPr marL="45720" marR="45720" marT="27432" marB="27432" anchor="ctr"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Enfoque</a:t>
                      </a:r>
                    </a:p>
                  </a:txBody>
                  <a:tcPr marL="45720" marR="45720" marT="27432" marB="27432" anchor="ctr">
                    <a:solidFill>
                      <a:srgbClr val="14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266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Regresión Logística Balanceada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Modelo lineal con ajuste por desbalance de clases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266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Random Forest Balanceado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Ensamble de árboles con ponderación de clases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266">
                <a:tc>
                  <a:txBody>
                    <a:bodyPr/>
                    <a:lstStyle/>
                    <a:p>
                      <a:pPr algn="ctr">
                        <a:defRPr sz="1019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 err="1"/>
                        <a:t>Gradient</a:t>
                      </a:r>
                      <a:r>
                        <a:rPr lang="es-CO" sz="1400" noProof="0" dirty="0"/>
                        <a:t> </a:t>
                      </a:r>
                      <a:r>
                        <a:rPr lang="es-CO" sz="1400" noProof="0" dirty="0" err="1"/>
                        <a:t>Boosting</a:t>
                      </a:r>
                      <a:endParaRPr lang="es-CO" sz="1400" noProof="0" dirty="0"/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9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Modelo secuencial basado en árboles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4">
            <a:extLst>
              <a:ext uri="{FF2B5EF4-FFF2-40B4-BE49-F238E27FC236}">
                <a16:creationId xmlns:a16="http://schemas.microsoft.com/office/drawing/2014/main" id="{362556E3-E844-B05E-4137-A996AAF43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5DA3020F-D255-77D1-81D3-F02C3E7941D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3AC6F17-9C17-CD3F-2E43-AECB40C5BE87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B755FCB-6C78-0CFB-1043-6CCD7848F980}"/>
              </a:ext>
            </a:extLst>
          </p:cNvPr>
          <p:cNvSpPr txBox="1"/>
          <p:nvPr/>
        </p:nvSpPr>
        <p:spPr>
          <a:xfrm>
            <a:off x="1741237" y="5841140"/>
            <a:ext cx="83681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9707D"/>
                </a:solidFill>
                <a:latin typeface="Aptos"/>
              </a:defRPr>
            </a:pPr>
            <a:r>
              <a:rPr lang="es-ES" sz="1400" dirty="0"/>
              <a:t>La ingeniería de variables buscó capturar intensidad transaccional, exposición internacional y relaciones entre balance, tarjetas y número de operaciones.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045416FF-889D-E297-1D2C-BD645AB8E7E0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t>Resultados comparativos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20645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/>
              <a:t>Evaluación de desempeño con AUC-ROC sobre validación interna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77387"/>
              </p:ext>
            </p:extLst>
          </p:nvPr>
        </p:nvGraphicFramePr>
        <p:xfrm>
          <a:off x="703028" y="2007725"/>
          <a:ext cx="51663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 dirty="0"/>
                        <a:t>Modelo</a:t>
                      </a:r>
                    </a:p>
                  </a:txBody>
                  <a:tcPr marL="45720" marR="45720" marT="27432" marB="27432" anchor="ctr">
                    <a:solidFill>
                      <a:srgbClr val="5B21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800"/>
                        <a:t>AUC-ROC</a:t>
                      </a:r>
                    </a:p>
                  </a:txBody>
                  <a:tcPr marL="45720" marR="45720" marT="27432" marB="27432" anchor="ctr">
                    <a:solidFill>
                      <a:srgbClr val="5B21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Regresión Logística Balanceada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0.937302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 err="1"/>
                        <a:t>Gradient</a:t>
                      </a:r>
                      <a:r>
                        <a:rPr lang="es-CO" sz="1800" noProof="0" dirty="0"/>
                        <a:t> </a:t>
                      </a:r>
                      <a:r>
                        <a:rPr lang="es-CO" sz="1800" noProof="0" dirty="0" err="1"/>
                        <a:t>Boosting</a:t>
                      </a:r>
                      <a:endParaRPr lang="es-CO" sz="1800" noProof="0" dirty="0"/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0.932123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Random Forest Balanceado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0.929979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64898"/>
              </p:ext>
            </p:extLst>
          </p:nvPr>
        </p:nvGraphicFramePr>
        <p:xfrm>
          <a:off x="6389394" y="1570701"/>
          <a:ext cx="516636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03028" y="4950725"/>
            <a:ext cx="5700820" cy="124649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just">
              <a:defRPr sz="150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La Regresión Logística Balanceada obtuvo el mejor desempeño en validación interna, superando a los modelos basados en árboles. </a:t>
            </a:r>
          </a:p>
          <a:p>
            <a:pPr algn="just">
              <a:defRPr sz="1500" b="0">
                <a:solidFill>
                  <a:srgbClr val="212529"/>
                </a:solidFill>
                <a:latin typeface="Aptos"/>
              </a:defRPr>
            </a:pPr>
            <a:endParaRPr lang="es-CO" dirty="0"/>
          </a:p>
          <a:p>
            <a:pPr algn="just">
              <a:defRPr sz="150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La diferencia no es amplia, pero sí consistente para seleccionar el modelo final.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4311" y="4879921"/>
            <a:ext cx="4230701" cy="110361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54312" y="4879921"/>
            <a:ext cx="248518" cy="110361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3835" y="4950025"/>
            <a:ext cx="2697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Mejor AUC-ROC interno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3835" y="5254957"/>
            <a:ext cx="269747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ptos"/>
              </a:defRPr>
            </a:pPr>
            <a:r>
              <a:rPr lang="es-CO" noProof="0" dirty="0"/>
              <a:t>0.937302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3835" y="5721169"/>
            <a:ext cx="2697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Regresión Logística Balanceada</a:t>
            </a: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6F1F16BC-E991-3C4A-C0A9-218E51B6F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114208E6-95A8-7AA8-735F-9187AE60746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65C4A28-E20F-E1E7-E2A7-E3575CE99FD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E1871C9-C7F8-2A37-45EA-55C7E6388C9E}"/>
              </a:ext>
            </a:extLst>
          </p:cNvPr>
          <p:cNvSpPr/>
          <p:nvPr/>
        </p:nvSpPr>
        <p:spPr>
          <a:xfrm>
            <a:off x="6609143" y="1679375"/>
            <a:ext cx="1469985" cy="2824988"/>
          </a:xfrm>
          <a:custGeom>
            <a:avLst/>
            <a:gdLst>
              <a:gd name="csX0" fmla="*/ 0 w 1469985"/>
              <a:gd name="csY0" fmla="*/ 140825 h 2824988"/>
              <a:gd name="csX1" fmla="*/ 140825 w 1469985"/>
              <a:gd name="csY1" fmla="*/ 0 h 2824988"/>
              <a:gd name="csX2" fmla="*/ 723109 w 1469985"/>
              <a:gd name="csY2" fmla="*/ 0 h 2824988"/>
              <a:gd name="csX3" fmla="*/ 1329160 w 1469985"/>
              <a:gd name="csY3" fmla="*/ 0 h 2824988"/>
              <a:gd name="csX4" fmla="*/ 1469985 w 1469985"/>
              <a:gd name="csY4" fmla="*/ 140825 h 2824988"/>
              <a:gd name="csX5" fmla="*/ 1469985 w 1469985"/>
              <a:gd name="csY5" fmla="*/ 598626 h 2824988"/>
              <a:gd name="csX6" fmla="*/ 1469985 w 1469985"/>
              <a:gd name="csY6" fmla="*/ 1056427 h 2824988"/>
              <a:gd name="csX7" fmla="*/ 1469985 w 1469985"/>
              <a:gd name="csY7" fmla="*/ 1590528 h 2824988"/>
              <a:gd name="csX8" fmla="*/ 1469985 w 1469985"/>
              <a:gd name="csY8" fmla="*/ 2150062 h 2824988"/>
              <a:gd name="csX9" fmla="*/ 1469985 w 1469985"/>
              <a:gd name="csY9" fmla="*/ 2684163 h 2824988"/>
              <a:gd name="csX10" fmla="*/ 1329160 w 1469985"/>
              <a:gd name="csY10" fmla="*/ 2824988 h 2824988"/>
              <a:gd name="csX11" fmla="*/ 746876 w 1469985"/>
              <a:gd name="csY11" fmla="*/ 2824988 h 2824988"/>
              <a:gd name="csX12" fmla="*/ 140825 w 1469985"/>
              <a:gd name="csY12" fmla="*/ 2824988 h 2824988"/>
              <a:gd name="csX13" fmla="*/ 0 w 1469985"/>
              <a:gd name="csY13" fmla="*/ 2684163 h 2824988"/>
              <a:gd name="csX14" fmla="*/ 0 w 1469985"/>
              <a:gd name="csY14" fmla="*/ 2200929 h 2824988"/>
              <a:gd name="csX15" fmla="*/ 0 w 1469985"/>
              <a:gd name="csY15" fmla="*/ 1692261 h 2824988"/>
              <a:gd name="csX16" fmla="*/ 0 w 1469985"/>
              <a:gd name="csY16" fmla="*/ 1209027 h 2824988"/>
              <a:gd name="csX17" fmla="*/ 0 w 1469985"/>
              <a:gd name="csY17" fmla="*/ 776659 h 2824988"/>
              <a:gd name="csX18" fmla="*/ 0 w 1469985"/>
              <a:gd name="csY18" fmla="*/ 140825 h 28249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469985" h="2824988" extrusionOk="0">
                <a:moveTo>
                  <a:pt x="0" y="140825"/>
                </a:moveTo>
                <a:cubicBezTo>
                  <a:pt x="-1232" y="60866"/>
                  <a:pt x="42235" y="4507"/>
                  <a:pt x="140825" y="0"/>
                </a:cubicBezTo>
                <a:cubicBezTo>
                  <a:pt x="397848" y="-45882"/>
                  <a:pt x="451054" y="68964"/>
                  <a:pt x="723109" y="0"/>
                </a:cubicBezTo>
                <a:cubicBezTo>
                  <a:pt x="995164" y="-68964"/>
                  <a:pt x="1074196" y="64493"/>
                  <a:pt x="1329160" y="0"/>
                </a:cubicBezTo>
                <a:cubicBezTo>
                  <a:pt x="1403873" y="-204"/>
                  <a:pt x="1470349" y="54390"/>
                  <a:pt x="1469985" y="140825"/>
                </a:cubicBezTo>
                <a:cubicBezTo>
                  <a:pt x="1492341" y="308597"/>
                  <a:pt x="1462141" y="456957"/>
                  <a:pt x="1469985" y="598626"/>
                </a:cubicBezTo>
                <a:cubicBezTo>
                  <a:pt x="1477829" y="740295"/>
                  <a:pt x="1450540" y="855495"/>
                  <a:pt x="1469985" y="1056427"/>
                </a:cubicBezTo>
                <a:cubicBezTo>
                  <a:pt x="1489430" y="1257359"/>
                  <a:pt x="1419034" y="1399395"/>
                  <a:pt x="1469985" y="1590528"/>
                </a:cubicBezTo>
                <a:cubicBezTo>
                  <a:pt x="1520936" y="1781661"/>
                  <a:pt x="1421773" y="1894996"/>
                  <a:pt x="1469985" y="2150062"/>
                </a:cubicBezTo>
                <a:cubicBezTo>
                  <a:pt x="1518197" y="2405128"/>
                  <a:pt x="1421953" y="2548207"/>
                  <a:pt x="1469985" y="2684163"/>
                </a:cubicBezTo>
                <a:cubicBezTo>
                  <a:pt x="1466160" y="2766135"/>
                  <a:pt x="1414610" y="2831849"/>
                  <a:pt x="1329160" y="2824988"/>
                </a:cubicBezTo>
                <a:cubicBezTo>
                  <a:pt x="1092262" y="2833708"/>
                  <a:pt x="1027116" y="2810988"/>
                  <a:pt x="746876" y="2824988"/>
                </a:cubicBezTo>
                <a:cubicBezTo>
                  <a:pt x="466636" y="2838988"/>
                  <a:pt x="278340" y="2754662"/>
                  <a:pt x="140825" y="2824988"/>
                </a:cubicBezTo>
                <a:cubicBezTo>
                  <a:pt x="54583" y="2819916"/>
                  <a:pt x="1148" y="2766526"/>
                  <a:pt x="0" y="2684163"/>
                </a:cubicBezTo>
                <a:cubicBezTo>
                  <a:pt x="-3721" y="2549799"/>
                  <a:pt x="28509" y="2313204"/>
                  <a:pt x="0" y="2200929"/>
                </a:cubicBezTo>
                <a:cubicBezTo>
                  <a:pt x="-28509" y="2088654"/>
                  <a:pt x="52803" y="1916036"/>
                  <a:pt x="0" y="1692261"/>
                </a:cubicBezTo>
                <a:cubicBezTo>
                  <a:pt x="-52803" y="1468486"/>
                  <a:pt x="3983" y="1355934"/>
                  <a:pt x="0" y="1209027"/>
                </a:cubicBezTo>
                <a:cubicBezTo>
                  <a:pt x="-3983" y="1062120"/>
                  <a:pt x="50952" y="947555"/>
                  <a:pt x="0" y="776659"/>
                </a:cubicBezTo>
                <a:cubicBezTo>
                  <a:pt x="-50952" y="605763"/>
                  <a:pt x="10540" y="432638"/>
                  <a:pt x="0" y="140825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106585551">
                  <a:prstGeom prst="roundRect">
                    <a:avLst>
                      <a:gd name="adj" fmla="val 958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F9096E4B-505D-5902-5D82-1986FE66B914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t>Modelo seleccionado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9009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/>
              <a:t>Regresión Logística Balanceada como modelo 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23000"/>
            <a:ext cx="10789920" cy="58477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60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El modelo seleccionado fue la Regresión Logística Balanceada, dado que presentó el mayor AUC ROC en validación interna y un resultado estable frente al puntaje obtenido en Kaggle.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333457"/>
              </p:ext>
            </p:extLst>
          </p:nvPr>
        </p:nvGraphicFramePr>
        <p:xfrm>
          <a:off x="480234" y="2437453"/>
          <a:ext cx="7714642" cy="2758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4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7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Criterio</a:t>
                      </a:r>
                    </a:p>
                  </a:txBody>
                  <a:tcPr marL="45720" marR="45720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Justificación</a:t>
                      </a:r>
                    </a:p>
                  </a:txBody>
                  <a:tcPr marL="45720" marR="45720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9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Desempeño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Obtuvo el mejor AUC ROC interno: 0.937302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9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Estabilidad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El resultado interno fue consistente con Kaggle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99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Interpretabilidad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600" noProof="0" dirty="0"/>
                        <a:t>Es más sencillo de explicar frente a modelos más complejos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623139" y="2482715"/>
            <a:ext cx="1554480" cy="34747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Proceso final</a:t>
            </a:r>
          </a:p>
        </p:txBody>
      </p:sp>
      <p:sp>
        <p:nvSpPr>
          <p:cNvPr id="14" name="Oval 13"/>
          <p:cNvSpPr/>
          <p:nvPr/>
        </p:nvSpPr>
        <p:spPr>
          <a:xfrm>
            <a:off x="8668859" y="3008838"/>
            <a:ext cx="292608" cy="292608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627" y="2990550"/>
            <a:ext cx="261313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  <a:latin typeface="Aptos"/>
              </a:defRPr>
            </a:pPr>
            <a:r>
              <a:t>Entrenar con 100% del train</a:t>
            </a:r>
          </a:p>
        </p:txBody>
      </p:sp>
      <p:sp>
        <p:nvSpPr>
          <p:cNvPr id="16" name="Oval 15"/>
          <p:cNvSpPr/>
          <p:nvPr/>
        </p:nvSpPr>
        <p:spPr>
          <a:xfrm>
            <a:off x="8668859" y="3575766"/>
            <a:ext cx="292608" cy="292608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627" y="3557478"/>
            <a:ext cx="261313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  <a:latin typeface="Aptos"/>
              </a:defRPr>
            </a:pPr>
            <a:r>
              <a:t>Predecir probabilidades en test</a:t>
            </a:r>
          </a:p>
        </p:txBody>
      </p:sp>
      <p:sp>
        <p:nvSpPr>
          <p:cNvPr id="18" name="Oval 17"/>
          <p:cNvSpPr/>
          <p:nvPr/>
        </p:nvSpPr>
        <p:spPr>
          <a:xfrm>
            <a:off x="8668859" y="4142694"/>
            <a:ext cx="292608" cy="292608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627" y="4124406"/>
            <a:ext cx="261313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  <a:latin typeface="Aptos"/>
              </a:defRPr>
            </a:pPr>
            <a:r>
              <a:t>Generar archivo CSV</a:t>
            </a:r>
          </a:p>
        </p:txBody>
      </p:sp>
      <p:sp>
        <p:nvSpPr>
          <p:cNvPr id="20" name="Oval 19"/>
          <p:cNvSpPr/>
          <p:nvPr/>
        </p:nvSpPr>
        <p:spPr>
          <a:xfrm>
            <a:off x="8668859" y="4709622"/>
            <a:ext cx="292608" cy="29260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627" y="4691334"/>
            <a:ext cx="261313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12529"/>
                </a:solidFill>
                <a:latin typeface="Aptos"/>
              </a:defRPr>
            </a:pPr>
            <a:r>
              <a:t>Cargar predicción en Kaggle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92721"/>
            <a:ext cx="10634472" cy="30008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50" b="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El resultado final no se generó como clase 0/1, sino como probabilidad de fraude, lo cual es adecuado para la evaluación mediante AUC ROC.</a:t>
            </a: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7609C7C6-2010-9EA2-237E-0C4FE90CE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D7702EA2-E470-0AD3-C9F1-4F9FFEAB9EC0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B52C002C-B423-E543-7EE7-2DC003645E1A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46D41515-6F83-3AB1-CE01-02ABA4F4C775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t>Resultado en Kaggle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00584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t>Validación del archivo de predicciones en la plataforma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799" y="1359445"/>
            <a:ext cx="4556761" cy="115953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1359445"/>
            <a:ext cx="265176" cy="1160235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5931" y="1494177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931" y="1759353"/>
            <a:ext cx="224027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B21B6"/>
                </a:solidFill>
                <a:latin typeface="Aptos"/>
              </a:defRPr>
            </a:pPr>
            <a:r>
              <a:rPr lang="es-CO" noProof="0" dirty="0"/>
              <a:t>Miguel_Estefanny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5931" y="2189121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Competencia: Modelos de Fraude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5718" y="1359445"/>
            <a:ext cx="4556761" cy="115953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95719" y="1359445"/>
            <a:ext cx="265176" cy="11602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5850" y="1494177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AUC-ROC Kaggle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5850" y="1759353"/>
            <a:ext cx="2240279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ptos"/>
              </a:defRPr>
            </a:pPr>
            <a:r>
              <a:rPr lang="es-CO" noProof="0" dirty="0"/>
              <a:t>0.93686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5850" y="2189121"/>
            <a:ext cx="22402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Puntaje público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256955"/>
              </p:ext>
            </p:extLst>
          </p:nvPr>
        </p:nvGraphicFramePr>
        <p:xfrm>
          <a:off x="777240" y="3091645"/>
          <a:ext cx="40690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Evaluación</a:t>
                      </a:r>
                    </a:p>
                  </a:txBody>
                  <a:tcPr marL="45720" marR="45720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AUC-ROC</a:t>
                      </a:r>
                    </a:p>
                  </a:txBody>
                  <a:tcPr marL="45720" marR="45720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Validación interna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0.93730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Kaggle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800" noProof="0" dirty="0"/>
                        <a:t>0.93686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77240" y="4746645"/>
            <a:ext cx="5120640" cy="98488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just">
              <a:defRPr sz="1450" b="0">
                <a:solidFill>
                  <a:srgbClr val="212529"/>
                </a:solidFill>
                <a:latin typeface="Aptos"/>
              </a:defRPr>
            </a:pPr>
            <a:r>
              <a:rPr lang="es-CO" noProof="0" dirty="0"/>
              <a:t>El resultado de Kaggle fue altamente consistente con la validación interna. Esto evidencia que el modelo generalizó adecuadamente sobre datos no observados y no presentó señales relevantes de sobreajuste.</a:t>
            </a:r>
          </a:p>
        </p:txBody>
      </p:sp>
      <p:pic>
        <p:nvPicPr>
          <p:cNvPr id="33" name="Picture 32" descr="17907b64-1992-4b84-a341-c19899384e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055717"/>
            <a:ext cx="5120640" cy="2256405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217920" y="3055717"/>
            <a:ext cx="5120640" cy="2258568"/>
          </a:xfrm>
          <a:prstGeom prst="rect">
            <a:avLst/>
          </a:prstGeom>
          <a:noFill/>
          <a:ln w="12700">
            <a:solidFill>
              <a:srgbClr val="D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36208" y="5653352"/>
            <a:ext cx="4297680" cy="2743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850" b="0">
                <a:solidFill>
                  <a:srgbClr val="69707D"/>
                </a:solidFill>
                <a:latin typeface="Aptos"/>
              </a:defRPr>
            </a:pPr>
            <a:r>
              <a:t>Evidencia: captura de tabla de clasificación pública de Kaggle.</a:t>
            </a: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4D628854-3AE9-64F5-CF7D-1885D8654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2">
            <a:extLst>
              <a:ext uri="{FF2B5EF4-FFF2-40B4-BE49-F238E27FC236}">
                <a16:creationId xmlns:a16="http://schemas.microsoft.com/office/drawing/2014/main" id="{FDC82FAF-ECFB-2512-F718-D531DE2D1908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D6FC369B-0D8E-93B8-A167-67F13460EFB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D04143F3-4F4B-EEC8-DC53-54D68A70486F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22B"/>
                </a:solidFill>
                <a:latin typeface="Aptos"/>
              </a:defRPr>
            </a:pPr>
            <a:r>
              <a:t>Conclusiones y recomendaciones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843795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  <a:latin typeface="Aptos"/>
              </a:defRPr>
            </a:pPr>
            <a:r>
              <a:rPr lang="es-CO" noProof="0"/>
              <a:t>Síntesis ejecutiva para toma de decisiones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1600200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7593" y="1349329"/>
            <a:ext cx="1874519" cy="347472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Recomendaciones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852560"/>
              </p:ext>
            </p:extLst>
          </p:nvPr>
        </p:nvGraphicFramePr>
        <p:xfrm>
          <a:off x="5437593" y="1883490"/>
          <a:ext cx="6297207" cy="2645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952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Recomendación</a:t>
                      </a:r>
                    </a:p>
                  </a:txBody>
                  <a:tcPr marL="45720" marR="45720" marT="27432" marB="27432" anchor="ctr">
                    <a:solidFill>
                      <a:srgbClr val="1412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Propósito</a:t>
                      </a:r>
                    </a:p>
                  </a:txBody>
                  <a:tcPr marL="45720" marR="45720" marT="27432" marB="27432" anchor="ctr">
                    <a:solidFill>
                      <a:srgbClr val="14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Monitorear falsos positivos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Evitar alertas excesivas que afecten la operación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Actualizar el modelo periódicamente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Incorporar nuevos patrones transaccionales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Complementar con reglas de negocio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Fortalecer la detección temprana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>
                        <a:defRPr sz="1010" b="1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Revisar clientes de mayor probabilidad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212529"/>
                          </a:solidFill>
                          <a:latin typeface="Aptos"/>
                        </a:defRPr>
                      </a:pPr>
                      <a:r>
                        <a:rPr lang="es-CO" sz="1400" noProof="0" dirty="0"/>
                        <a:t>Priorizar acciones preventivas y de análisis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297522" y="4949912"/>
            <a:ext cx="3589020" cy="1135431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97521" y="4949912"/>
            <a:ext cx="266701" cy="1135431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11110" y="5073357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9707D"/>
                </a:solidFill>
                <a:latin typeface="Aptos"/>
              </a:defRPr>
            </a:pPr>
            <a:r>
              <a:t>Resultado 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1110" y="5338533"/>
            <a:ext cx="26517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ptos"/>
              </a:defRPr>
            </a:pPr>
            <a:r>
              <a:t>AUC-ROC 0.93686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1110" y="5768301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dirty="0"/>
              <a:t>Kaggle | Equipo Miguel_Estefanny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2834" y="5248285"/>
            <a:ext cx="67665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1300" b="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El modelo puede ser utilizado como herramienta de priorización, no como sustituto del análisis operativo o investigativo del fraude.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C6724D01-7A73-0C31-276C-17319BEFA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88" y="6319776"/>
            <a:ext cx="1617972" cy="47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DA53DBFC-D69B-3182-C665-9BC5514A9FF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777B33F8-B16F-9B2D-4047-F684307379C5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1D594F0-A1DA-5ABA-F639-B5C6176C515D}"/>
              </a:ext>
            </a:extLst>
          </p:cNvPr>
          <p:cNvSpPr txBox="1"/>
          <p:nvPr/>
        </p:nvSpPr>
        <p:spPr>
          <a:xfrm>
            <a:off x="457200" y="2085895"/>
            <a:ext cx="4675634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320">
                <a:solidFill>
                  <a:srgbClr val="212529"/>
                </a:solidFill>
                <a:latin typeface="Aptos"/>
              </a:defRPr>
            </a:pPr>
            <a:r>
              <a:rPr lang="es-ES" sz="1600" dirty="0"/>
              <a:t>El modelo desarrollado permitió identificar patrones asociados al fraude financiero con alta capacidad de discriminación.</a:t>
            </a: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320">
                <a:solidFill>
                  <a:srgbClr val="212529"/>
                </a:solidFill>
                <a:latin typeface="Aptos"/>
              </a:defRPr>
            </a:pPr>
            <a:r>
              <a:rPr lang="es-ES" sz="1600" dirty="0"/>
              <a:t>La consistencia entre validación interna y Kaggle demuestra estabilidad metodológica y bajo riesgo de sobreajuste.</a:t>
            </a:r>
          </a:p>
          <a:p>
            <a:pPr marL="285750" indent="-285750" algn="just">
              <a:spcAft>
                <a:spcPts val="500"/>
              </a:spcAft>
              <a:buFont typeface="Arial" panose="020B0604020202020204" pitchFamily="34" charset="0"/>
              <a:buChar char="•"/>
              <a:defRPr sz="1320">
                <a:solidFill>
                  <a:srgbClr val="212529"/>
                </a:solidFill>
                <a:latin typeface="Aptos"/>
              </a:defRPr>
            </a:pPr>
            <a:r>
              <a:rPr lang="es-ES" sz="1600" dirty="0"/>
              <a:t>La Regresión Logística Balanceada combinó buen desempeño predictivo, facilidad de interpretación y consistencia en evaluación.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BE75B2FD-A806-E587-261B-A397B195B5D3}"/>
              </a:ext>
            </a:extLst>
          </p:cNvPr>
          <p:cNvSpPr txBox="1"/>
          <p:nvPr/>
        </p:nvSpPr>
        <p:spPr>
          <a:xfrm>
            <a:off x="146304" y="6572778"/>
            <a:ext cx="494718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noProof="0" dirty="0"/>
              <a:t>Modelos de clasificación para detección temprana de fraude | Equipo Estefanny Ruiz _ Miguel Alarcón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1F481-D69A-4B03-14CD-9F5653E8B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0FF4F3-3089-167D-9860-54E00B2C30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orma libre: forma 29">
            <a:extLst>
              <a:ext uri="{FF2B5EF4-FFF2-40B4-BE49-F238E27FC236}">
                <a16:creationId xmlns:a16="http://schemas.microsoft.com/office/drawing/2014/main" id="{B1ECA843-2E7F-9EE3-ABFE-8BB11CDAD341}"/>
              </a:ext>
            </a:extLst>
          </p:cNvPr>
          <p:cNvSpPr/>
          <p:nvPr/>
        </p:nvSpPr>
        <p:spPr>
          <a:xfrm>
            <a:off x="8507392" y="-21790"/>
            <a:ext cx="3684608" cy="3761686"/>
          </a:xfrm>
          <a:custGeom>
            <a:avLst/>
            <a:gdLst>
              <a:gd name="csX0" fmla="*/ 714069 w 3596640"/>
              <a:gd name="csY0" fmla="*/ 0 h 3679391"/>
              <a:gd name="csX1" fmla="*/ 3492171 w 3596640"/>
              <a:gd name="csY1" fmla="*/ 0 h 3679391"/>
              <a:gd name="csX2" fmla="*/ 3590250 w 3596640"/>
              <a:gd name="csY2" fmla="*/ 89141 h 3679391"/>
              <a:gd name="csX3" fmla="*/ 3596640 w 3596640"/>
              <a:gd name="csY3" fmla="*/ 96171 h 3679391"/>
              <a:gd name="csX4" fmla="*/ 3596640 w 3596640"/>
              <a:gd name="csY4" fmla="*/ 3056371 h 3679391"/>
              <a:gd name="csX5" fmla="*/ 3590250 w 3596640"/>
              <a:gd name="csY5" fmla="*/ 3063402 h 3679391"/>
              <a:gd name="csX6" fmla="*/ 2103120 w 3596640"/>
              <a:gd name="csY6" fmla="*/ 3679391 h 3679391"/>
              <a:gd name="csX7" fmla="*/ 0 w 3596640"/>
              <a:gd name="csY7" fmla="*/ 1576271 h 3679391"/>
              <a:gd name="csX8" fmla="*/ 615990 w 3596640"/>
              <a:gd name="csY8" fmla="*/ 89141 h 36793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596640" h="3679391">
                <a:moveTo>
                  <a:pt x="714069" y="0"/>
                </a:moveTo>
                <a:lnTo>
                  <a:pt x="3492171" y="0"/>
                </a:lnTo>
                <a:lnTo>
                  <a:pt x="3590250" y="89141"/>
                </a:lnTo>
                <a:lnTo>
                  <a:pt x="3596640" y="96171"/>
                </a:lnTo>
                <a:lnTo>
                  <a:pt x="3596640" y="3056371"/>
                </a:lnTo>
                <a:lnTo>
                  <a:pt x="3590250" y="3063402"/>
                </a:lnTo>
                <a:cubicBezTo>
                  <a:pt x="3209661" y="3443991"/>
                  <a:pt x="2683881" y="3679391"/>
                  <a:pt x="2103120" y="3679391"/>
                </a:cubicBezTo>
                <a:cubicBezTo>
                  <a:pt x="941599" y="3679391"/>
                  <a:pt x="0" y="2737792"/>
                  <a:pt x="0" y="1576271"/>
                </a:cubicBezTo>
                <a:cubicBezTo>
                  <a:pt x="0" y="995511"/>
                  <a:pt x="235400" y="469731"/>
                  <a:pt x="615990" y="89141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68EE0CE8-EA8F-5C60-03DD-BC2633C8B66D}"/>
              </a:ext>
            </a:extLst>
          </p:cNvPr>
          <p:cNvSpPr/>
          <p:nvPr/>
        </p:nvSpPr>
        <p:spPr>
          <a:xfrm>
            <a:off x="10162572" y="5084064"/>
            <a:ext cx="2029428" cy="1756140"/>
          </a:xfrm>
          <a:custGeom>
            <a:avLst/>
            <a:gdLst>
              <a:gd name="csX0" fmla="*/ 1463040 w 2499360"/>
              <a:gd name="csY0" fmla="*/ 0 h 2451084"/>
              <a:gd name="csX1" fmla="*/ 2497566 w 2499360"/>
              <a:gd name="csY1" fmla="*/ 428515 h 2451084"/>
              <a:gd name="csX2" fmla="*/ 2499360 w 2499360"/>
              <a:gd name="csY2" fmla="*/ 430489 h 2451084"/>
              <a:gd name="csX3" fmla="*/ 2499360 w 2499360"/>
              <a:gd name="csY3" fmla="*/ 2451084 h 2451084"/>
              <a:gd name="csX4" fmla="*/ 386269 w 2499360"/>
              <a:gd name="csY4" fmla="*/ 2451084 h 2451084"/>
              <a:gd name="csX5" fmla="*/ 334087 w 2499360"/>
              <a:gd name="csY5" fmla="*/ 2393670 h 2451084"/>
              <a:gd name="csX6" fmla="*/ 0 w 2499360"/>
              <a:gd name="csY6" fmla="*/ 1463040 h 2451084"/>
              <a:gd name="csX7" fmla="*/ 1463040 w 2499360"/>
              <a:gd name="csY7" fmla="*/ 0 h 2451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99360" h="2451084">
                <a:moveTo>
                  <a:pt x="1463040" y="0"/>
                </a:moveTo>
                <a:cubicBezTo>
                  <a:pt x="1867048" y="0"/>
                  <a:pt x="2232808" y="163757"/>
                  <a:pt x="2497566" y="428515"/>
                </a:cubicBezTo>
                <a:lnTo>
                  <a:pt x="2499360" y="430489"/>
                </a:lnTo>
                <a:lnTo>
                  <a:pt x="2499360" y="2451084"/>
                </a:lnTo>
                <a:lnTo>
                  <a:pt x="386269" y="2451084"/>
                </a:lnTo>
                <a:lnTo>
                  <a:pt x="334087" y="2393670"/>
                </a:lnTo>
                <a:cubicBezTo>
                  <a:pt x="125376" y="2140770"/>
                  <a:pt x="0" y="1816547"/>
                  <a:pt x="0" y="1463040"/>
                </a:cubicBezTo>
                <a:cubicBezTo>
                  <a:pt x="0" y="655025"/>
                  <a:pt x="655025" y="0"/>
                  <a:pt x="146304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5291ECBD-C2C5-E395-6B52-30E21B6ACAED}"/>
              </a:ext>
            </a:extLst>
          </p:cNvPr>
          <p:cNvSpPr/>
          <p:nvPr/>
        </p:nvSpPr>
        <p:spPr>
          <a:xfrm>
            <a:off x="91440" y="5497975"/>
            <a:ext cx="1629484" cy="1350200"/>
          </a:xfrm>
          <a:custGeom>
            <a:avLst/>
            <a:gdLst>
              <a:gd name="csX0" fmla="*/ 960120 w 1920240"/>
              <a:gd name="csY0" fmla="*/ 0 h 1554480"/>
              <a:gd name="csX1" fmla="*/ 1920240 w 1920240"/>
              <a:gd name="csY1" fmla="*/ 960120 h 1554480"/>
              <a:gd name="csX2" fmla="*/ 1756267 w 1920240"/>
              <a:gd name="csY2" fmla="*/ 1496933 h 1554480"/>
              <a:gd name="csX3" fmla="*/ 1708786 w 1920240"/>
              <a:gd name="csY3" fmla="*/ 1554480 h 1554480"/>
              <a:gd name="csX4" fmla="*/ 211454 w 1920240"/>
              <a:gd name="csY4" fmla="*/ 1554480 h 1554480"/>
              <a:gd name="csX5" fmla="*/ 163973 w 1920240"/>
              <a:gd name="csY5" fmla="*/ 1496933 h 1554480"/>
              <a:gd name="csX6" fmla="*/ 0 w 1920240"/>
              <a:gd name="csY6" fmla="*/ 960120 h 1554480"/>
              <a:gd name="csX7" fmla="*/ 960120 w 1920240"/>
              <a:gd name="csY7" fmla="*/ 0 h 15544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20240" h="1554480">
                <a:moveTo>
                  <a:pt x="960120" y="0"/>
                </a:moveTo>
                <a:cubicBezTo>
                  <a:pt x="1490380" y="0"/>
                  <a:pt x="1920240" y="429860"/>
                  <a:pt x="1920240" y="960120"/>
                </a:cubicBezTo>
                <a:cubicBezTo>
                  <a:pt x="1920240" y="1158968"/>
                  <a:pt x="1859791" y="1343697"/>
                  <a:pt x="1756267" y="1496933"/>
                </a:cubicBezTo>
                <a:lnTo>
                  <a:pt x="1708786" y="1554480"/>
                </a:lnTo>
                <a:lnTo>
                  <a:pt x="211454" y="1554480"/>
                </a:lnTo>
                <a:lnTo>
                  <a:pt x="163973" y="1496933"/>
                </a:lnTo>
                <a:cubicBezTo>
                  <a:pt x="60449" y="1343697"/>
                  <a:pt x="0" y="1158968"/>
                  <a:pt x="0" y="960120"/>
                </a:cubicBezTo>
                <a:cubicBezTo>
                  <a:pt x="0" y="429860"/>
                  <a:pt x="429860" y="0"/>
                  <a:pt x="96012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9EACB-607F-C6DA-607E-F2D19CB982CC}"/>
              </a:ext>
            </a:extLst>
          </p:cNvPr>
          <p:cNvSpPr txBox="1"/>
          <p:nvPr/>
        </p:nvSpPr>
        <p:spPr>
          <a:xfrm>
            <a:off x="486117" y="3462535"/>
            <a:ext cx="8860106" cy="15696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s-E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La analítica de datos permite transformar la información transaccional en señales tempranas para la gestión del fraude, fortaleciendo la toma de decisiones y la prevención de riesgos en entidades financieras.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00C5CD0-9271-4A27-83A4-C12B019F6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4" r="1"/>
          <a:stretch>
            <a:fillRect/>
          </a:stretch>
        </p:blipFill>
        <p:spPr bwMode="auto">
          <a:xfrm>
            <a:off x="9005104" y="1696382"/>
            <a:ext cx="3009803" cy="129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>
            <a:extLst>
              <a:ext uri="{FF2B5EF4-FFF2-40B4-BE49-F238E27FC236}">
                <a16:creationId xmlns:a16="http://schemas.microsoft.com/office/drawing/2014/main" id="{D631389A-B6BE-D993-F159-CF078DF4C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94"/>
          <a:stretch>
            <a:fillRect/>
          </a:stretch>
        </p:blipFill>
        <p:spPr bwMode="auto">
          <a:xfrm>
            <a:off x="9770671" y="135630"/>
            <a:ext cx="1672736" cy="1631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67417316-9278-189A-54DA-FBAB1463AFA5}"/>
              </a:ext>
            </a:extLst>
          </p:cNvPr>
          <p:cNvSpPr txBox="1"/>
          <p:nvPr/>
        </p:nvSpPr>
        <p:spPr>
          <a:xfrm>
            <a:off x="1983882" y="6049963"/>
            <a:ext cx="557671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sz="1600" i="1" noProof="0" dirty="0">
                <a:solidFill>
                  <a:schemeClr val="bg1"/>
                </a:solidFill>
              </a:rPr>
              <a:t>Modelos de clasificación para detección temprana de fraude </a:t>
            </a:r>
            <a:endParaRPr lang="es-CO" sz="1600" i="1" dirty="0">
              <a:solidFill>
                <a:schemeClr val="bg1"/>
              </a:solidFill>
            </a:endParaRPr>
          </a:p>
          <a:p>
            <a:pPr>
              <a:defRPr sz="850">
                <a:solidFill>
                  <a:srgbClr val="69707D"/>
                </a:solidFill>
                <a:latin typeface="Aptos"/>
              </a:defRPr>
            </a:pPr>
            <a:r>
              <a:rPr lang="es-CO" sz="1600" b="1" i="1" noProof="0" dirty="0">
                <a:solidFill>
                  <a:schemeClr val="bg1"/>
                </a:solidFill>
              </a:rPr>
              <a:t>Equipo: </a:t>
            </a:r>
            <a:r>
              <a:rPr lang="es-CO" sz="1600" i="1" noProof="0" dirty="0">
                <a:solidFill>
                  <a:schemeClr val="bg1"/>
                </a:solidFill>
              </a:rPr>
              <a:t>Estefanny Ruiz _ Miguel Alarcón</a:t>
            </a:r>
          </a:p>
        </p:txBody>
      </p:sp>
    </p:spTree>
    <p:extLst>
      <p:ext uri="{BB962C8B-B14F-4D97-AF65-F5344CB8AC3E}">
        <p14:creationId xmlns:p14="http://schemas.microsoft.com/office/powerpoint/2010/main" val="45053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941</Words>
  <Application>Microsoft Office PowerPoint</Application>
  <PresentationFormat>Panorámica</PresentationFormat>
  <Paragraphs>157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Miguel Alarcon</dc:creator>
  <cp:keywords/>
  <dc:description>generated using python-pptx</dc:description>
  <cp:lastModifiedBy>Miguel Angel Alarcón Ojeda</cp:lastModifiedBy>
  <cp:revision>6</cp:revision>
  <dcterms:created xsi:type="dcterms:W3CDTF">2013-01-27T09:14:16Z</dcterms:created>
  <dcterms:modified xsi:type="dcterms:W3CDTF">2026-05-23T15:14:49Z</dcterms:modified>
  <cp:category/>
</cp:coreProperties>
</file>